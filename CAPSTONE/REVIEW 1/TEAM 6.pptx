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1"/>
  </p:sldMasterIdLst>
  <p:notesMasterIdLst>
    <p:notesMasterId r:id="rId11"/>
  </p:notesMasterIdLst>
  <p:sldIdLst>
    <p:sldId id="256" r:id="rId2"/>
    <p:sldId id="296" r:id="rId3"/>
    <p:sldId id="340" r:id="rId4"/>
    <p:sldId id="314" r:id="rId5"/>
    <p:sldId id="324" r:id="rId6"/>
    <p:sldId id="328" r:id="rId7"/>
    <p:sldId id="329" r:id="rId8"/>
    <p:sldId id="330" r:id="rId9"/>
    <p:sldId id="318" r:id="rId10"/>
  </p:sldIdLst>
  <p:sldSz cx="12192000" cy="6858000"/>
  <p:notesSz cx="6858000" cy="9144000"/>
  <p:embeddedFontLst>
    <p:embeddedFont>
      <p:font typeface="Tw Cen MT" panose="020B0602020104020603" pitchFamily="34" charset="0"/>
      <p:regular r:id="rId12"/>
      <p:bold r:id="rId13"/>
      <p:italic r:id="rId14"/>
      <p:boldItalic r:id="rId15"/>
    </p:embeddedFont>
    <p:embeddedFont>
      <p:font typeface="Tw Cen MT Condensed" panose="020B0606020104020203" pitchFamily="34" charset="0"/>
      <p:regular r:id="rId16"/>
      <p:bold r:id="rId17"/>
    </p:embeddedFont>
    <p:embeddedFont>
      <p:font typeface="Wingdings 3" panose="05040102010807070707" pitchFamily="18" charset="2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52D4F1-00FF-4B38-BC4A-D6A9A0C36176}">
  <a:tblStyle styleId="{9252D4F1-00FF-4B38-BC4A-D6A9A0C3617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81" d="100"/>
          <a:sy n="81" d="100"/>
        </p:scale>
        <p:origin x="907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13206AF5-1EBC-84CD-5439-10244132D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>
            <a:extLst>
              <a:ext uri="{FF2B5EF4-FFF2-40B4-BE49-F238E27FC236}">
                <a16:creationId xmlns:a16="http://schemas.microsoft.com/office/drawing/2014/main" id="{15B5088F-E33E-772E-A2B7-45D159057F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>
            <a:extLst>
              <a:ext uri="{FF2B5EF4-FFF2-40B4-BE49-F238E27FC236}">
                <a16:creationId xmlns:a16="http://schemas.microsoft.com/office/drawing/2014/main" id="{ACFAC65B-3BE0-6A33-9716-0738AFE45A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86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B280973F-81AF-68ED-590A-FA5C9A589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>
            <a:extLst>
              <a:ext uri="{FF2B5EF4-FFF2-40B4-BE49-F238E27FC236}">
                <a16:creationId xmlns:a16="http://schemas.microsoft.com/office/drawing/2014/main" id="{90F33AD6-3C5E-D4D9-5DC8-314BDFE3FC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>
            <a:extLst>
              <a:ext uri="{FF2B5EF4-FFF2-40B4-BE49-F238E27FC236}">
                <a16:creationId xmlns:a16="http://schemas.microsoft.com/office/drawing/2014/main" id="{E973AFEC-BA70-57AD-D23C-6CCA1F1727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848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E2130D99-72E3-F31A-AB89-E328EF963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>
            <a:extLst>
              <a:ext uri="{FF2B5EF4-FFF2-40B4-BE49-F238E27FC236}">
                <a16:creationId xmlns:a16="http://schemas.microsoft.com/office/drawing/2014/main" id="{0FA324F7-A803-27C9-F48F-7E8D038EF8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>
            <a:extLst>
              <a:ext uri="{FF2B5EF4-FFF2-40B4-BE49-F238E27FC236}">
                <a16:creationId xmlns:a16="http://schemas.microsoft.com/office/drawing/2014/main" id="{BF1D4E6D-12B6-0A58-D852-4D0521C70D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820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D0450E3D-0216-9B70-DB9B-0C29D837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>
            <a:extLst>
              <a:ext uri="{FF2B5EF4-FFF2-40B4-BE49-F238E27FC236}">
                <a16:creationId xmlns:a16="http://schemas.microsoft.com/office/drawing/2014/main" id="{6100F128-531B-1B9C-14A6-1F0D28971F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>
            <a:extLst>
              <a:ext uri="{FF2B5EF4-FFF2-40B4-BE49-F238E27FC236}">
                <a16:creationId xmlns:a16="http://schemas.microsoft.com/office/drawing/2014/main" id="{CE542314-0739-0AF4-744F-D86767D736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543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F63B0B4F-36EA-AF95-A729-94DD76902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>
            <a:extLst>
              <a:ext uri="{FF2B5EF4-FFF2-40B4-BE49-F238E27FC236}">
                <a16:creationId xmlns:a16="http://schemas.microsoft.com/office/drawing/2014/main" id="{C9AEA263-77AD-FAD0-4AC8-9725770FB8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>
            <a:extLst>
              <a:ext uri="{FF2B5EF4-FFF2-40B4-BE49-F238E27FC236}">
                <a16:creationId xmlns:a16="http://schemas.microsoft.com/office/drawing/2014/main" id="{015495DC-85CC-3D9D-D419-B3FCF3554F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16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FAD52C96-AE18-D18F-23FF-D389840B2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>
            <a:extLst>
              <a:ext uri="{FF2B5EF4-FFF2-40B4-BE49-F238E27FC236}">
                <a16:creationId xmlns:a16="http://schemas.microsoft.com/office/drawing/2014/main" id="{AE02CFF9-2534-CDFF-14D8-4F8EBD59C8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>
            <a:extLst>
              <a:ext uri="{FF2B5EF4-FFF2-40B4-BE49-F238E27FC236}">
                <a16:creationId xmlns:a16="http://schemas.microsoft.com/office/drawing/2014/main" id="{A7EFAD7A-1C20-4C1C-35AE-3B29C43E49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83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EFBC6F64-5B54-FBB5-080B-121E52172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>
            <a:extLst>
              <a:ext uri="{FF2B5EF4-FFF2-40B4-BE49-F238E27FC236}">
                <a16:creationId xmlns:a16="http://schemas.microsoft.com/office/drawing/2014/main" id="{2534E3A7-7D89-06E7-704D-860C12586B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>
            <a:extLst>
              <a:ext uri="{FF2B5EF4-FFF2-40B4-BE49-F238E27FC236}">
                <a16:creationId xmlns:a16="http://schemas.microsoft.com/office/drawing/2014/main" id="{8F533104-CA06-C7F0-2FCF-987FF3B346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328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CD577BF2-983F-8ED0-7277-3FA84C64E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>
            <a:extLst>
              <a:ext uri="{FF2B5EF4-FFF2-40B4-BE49-F238E27FC236}">
                <a16:creationId xmlns:a16="http://schemas.microsoft.com/office/drawing/2014/main" id="{B8D3B365-ED65-2235-57F1-6CD84F7509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>
            <a:extLst>
              <a:ext uri="{FF2B5EF4-FFF2-40B4-BE49-F238E27FC236}">
                <a16:creationId xmlns:a16="http://schemas.microsoft.com/office/drawing/2014/main" id="{687332E9-A1F3-998D-7EFC-A0A654C036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04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109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361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19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41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260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416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586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254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76805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366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186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22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2882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0" y="2246643"/>
            <a:ext cx="11462994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Interview Coach: Intelligent Interview Preparation Using Generative AI</a:t>
            </a:r>
          </a:p>
        </p:txBody>
      </p:sp>
      <p:sp>
        <p:nvSpPr>
          <p:cNvPr id="86" name="Google Shape;86;p13"/>
          <p:cNvSpPr txBox="1"/>
          <p:nvPr/>
        </p:nvSpPr>
        <p:spPr>
          <a:xfrm>
            <a:off x="3086100" y="2428875"/>
            <a:ext cx="6019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086100" y="3598336"/>
            <a:ext cx="6019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3086100" y="4451895"/>
            <a:ext cx="6019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3086100" y="4964310"/>
            <a:ext cx="601980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Freeform 10">
            <a:extLst>
              <a:ext uri="{FF2B5EF4-FFF2-40B4-BE49-F238E27FC236}">
                <a16:creationId xmlns:a16="http://schemas.microsoft.com/office/drawing/2014/main" id="{BAF2E57E-B261-2123-4E7E-8735D923216C}"/>
              </a:ext>
            </a:extLst>
          </p:cNvPr>
          <p:cNvSpPr/>
          <p:nvPr/>
        </p:nvSpPr>
        <p:spPr>
          <a:xfrm>
            <a:off x="167640" y="190500"/>
            <a:ext cx="3611880" cy="1047750"/>
          </a:xfrm>
          <a:custGeom>
            <a:avLst/>
            <a:gdLst/>
            <a:ahLst/>
            <a:cxnLst/>
            <a:rect l="l" t="t" r="r" b="b"/>
            <a:pathLst>
              <a:path w="6078191" h="1644838">
                <a:moveTo>
                  <a:pt x="0" y="0"/>
                </a:moveTo>
                <a:lnTo>
                  <a:pt x="6078191" y="0"/>
                </a:lnTo>
                <a:lnTo>
                  <a:pt x="6078191" y="1644838"/>
                </a:lnTo>
                <a:lnTo>
                  <a:pt x="0" y="16448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11">
            <a:extLst>
              <a:ext uri="{FF2B5EF4-FFF2-40B4-BE49-F238E27FC236}">
                <a16:creationId xmlns:a16="http://schemas.microsoft.com/office/drawing/2014/main" id="{ED441AD1-4E70-B4F8-E783-4CBF5758F019}"/>
              </a:ext>
            </a:extLst>
          </p:cNvPr>
          <p:cNvSpPr/>
          <p:nvPr/>
        </p:nvSpPr>
        <p:spPr>
          <a:xfrm>
            <a:off x="7802880" y="190500"/>
            <a:ext cx="4221480" cy="1047750"/>
          </a:xfrm>
          <a:custGeom>
            <a:avLst/>
            <a:gdLst/>
            <a:ahLst/>
            <a:cxnLst/>
            <a:rect l="l" t="t" r="r" b="b"/>
            <a:pathLst>
              <a:path w="6695160" h="1457450">
                <a:moveTo>
                  <a:pt x="0" y="0"/>
                </a:moveTo>
                <a:lnTo>
                  <a:pt x="6695160" y="0"/>
                </a:lnTo>
                <a:lnTo>
                  <a:pt x="6695160" y="1457449"/>
                </a:lnTo>
                <a:lnTo>
                  <a:pt x="0" y="14574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1463E-E7A6-B8A9-14A5-5F22BA572CB6}"/>
              </a:ext>
            </a:extLst>
          </p:cNvPr>
          <p:cNvSpPr txBox="1"/>
          <p:nvPr/>
        </p:nvSpPr>
        <p:spPr>
          <a:xfrm>
            <a:off x="8206528" y="4333892"/>
            <a:ext cx="4135608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125" lvl="1">
              <a:spcBef>
                <a:spcPts val="550"/>
              </a:spcBef>
            </a:pPr>
            <a:r>
              <a:rPr lang="en-US" sz="2400" b="1" dirty="0">
                <a:solidFill>
                  <a:schemeClr val="accent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Presented By</a:t>
            </a:r>
          </a:p>
          <a:p>
            <a:pPr marL="365125" lvl="1">
              <a:spcBef>
                <a:spcPts val="550"/>
              </a:spcBef>
            </a:pPr>
            <a:r>
              <a:rPr lang="en-US" sz="2000" dirty="0">
                <a:solidFill>
                  <a:srgbClr val="0020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K. Vamsi Siva(192425251)</a:t>
            </a:r>
          </a:p>
          <a:p>
            <a:pPr marL="365125" lvl="1">
              <a:spcBef>
                <a:spcPts val="550"/>
              </a:spcBef>
            </a:pPr>
            <a:r>
              <a:rPr lang="en-US" sz="2000" dirty="0">
                <a:solidFill>
                  <a:srgbClr val="0020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Y. Sai Kumar (192425218)</a:t>
            </a:r>
          </a:p>
          <a:p>
            <a:pPr marL="365125" lvl="1">
              <a:spcBef>
                <a:spcPts val="550"/>
              </a:spcBef>
            </a:pPr>
            <a:r>
              <a:rPr lang="en-US" sz="2000" dirty="0">
                <a:solidFill>
                  <a:srgbClr val="0020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Karthik US (1919260049)</a:t>
            </a:r>
          </a:p>
          <a:p>
            <a:pPr marL="365125" lvl="1">
              <a:spcBef>
                <a:spcPts val="550"/>
              </a:spcBef>
            </a:pPr>
            <a:r>
              <a:rPr lang="en-US" sz="2000" dirty="0">
                <a:solidFill>
                  <a:srgbClr val="0020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SIMATS 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141E99-8908-ABF3-EFC6-E4FC4C465280}"/>
              </a:ext>
            </a:extLst>
          </p:cNvPr>
          <p:cNvSpPr txBox="1"/>
          <p:nvPr/>
        </p:nvSpPr>
        <p:spPr>
          <a:xfrm>
            <a:off x="0" y="4685451"/>
            <a:ext cx="630739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125" lvl="1">
              <a:spcBef>
                <a:spcPts val="550"/>
              </a:spcBef>
            </a:pPr>
            <a:r>
              <a:rPr lang="en-US" sz="2400" b="1" dirty="0">
                <a:solidFill>
                  <a:schemeClr val="accent1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Supervisor		</a:t>
            </a:r>
            <a:endParaRPr lang="en-US" sz="2000" dirty="0">
              <a:solidFill>
                <a:srgbClr val="002060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365125" lvl="1">
              <a:spcBef>
                <a:spcPts val="550"/>
              </a:spcBef>
            </a:pPr>
            <a:r>
              <a:rPr lang="en-US" sz="2000" dirty="0">
                <a:solidFill>
                  <a:srgbClr val="002060"/>
                </a:solidFill>
                <a:latin typeface="Times New Roman" panose="02020503050405090304"/>
                <a:cs typeface="Times New Roman" panose="02020503050405090304"/>
              </a:rPr>
              <a:t>Dr. Rajgopal K</a:t>
            </a:r>
          </a:p>
          <a:p>
            <a:pPr marL="365125" lvl="1">
              <a:spcBef>
                <a:spcPts val="550"/>
              </a:spcBef>
            </a:pPr>
            <a:r>
              <a:rPr lang="en-US" sz="2000" dirty="0">
                <a:solidFill>
                  <a:srgbClr val="0020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SIMATS Engineering</a:t>
            </a:r>
          </a:p>
          <a:p>
            <a:pPr marL="365125" lvl="1">
              <a:spcBef>
                <a:spcPts val="550"/>
              </a:spcBef>
            </a:pPr>
            <a:r>
              <a:rPr lang="en-US" sz="2000" dirty="0">
                <a:solidFill>
                  <a:srgbClr val="00206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Chennai </a:t>
            </a:r>
          </a:p>
        </p:txBody>
      </p:sp>
      <p:sp>
        <p:nvSpPr>
          <p:cNvPr id="8" name="Freeform 29">
            <a:extLst>
              <a:ext uri="{FF2B5EF4-FFF2-40B4-BE49-F238E27FC236}">
                <a16:creationId xmlns:a16="http://schemas.microsoft.com/office/drawing/2014/main" id="{C1F1FE49-0E0A-4E0D-F019-F4439404340B}"/>
              </a:ext>
            </a:extLst>
          </p:cNvPr>
          <p:cNvSpPr/>
          <p:nvPr/>
        </p:nvSpPr>
        <p:spPr>
          <a:xfrm>
            <a:off x="3957511" y="1625936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D854D8D1-CB12-1F85-6B5F-B7ABFBCDF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>
            <a:extLst>
              <a:ext uri="{FF2B5EF4-FFF2-40B4-BE49-F238E27FC236}">
                <a16:creationId xmlns:a16="http://schemas.microsoft.com/office/drawing/2014/main" id="{ACC96E41-06A1-27DC-F560-E360225437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565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>
            <a:extLst>
              <a:ext uri="{FF2B5EF4-FFF2-40B4-BE49-F238E27FC236}">
                <a16:creationId xmlns:a16="http://schemas.microsoft.com/office/drawing/2014/main" id="{73E9DF26-B8DC-4E18-5894-92224B094FA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>
            <a:extLst>
              <a:ext uri="{FF2B5EF4-FFF2-40B4-BE49-F238E27FC236}">
                <a16:creationId xmlns:a16="http://schemas.microsoft.com/office/drawing/2014/main" id="{789640BE-E0C1-576D-CEB4-74C852B58163}"/>
              </a:ext>
            </a:extLst>
          </p:cNvPr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465D60B7-1AB8-910E-1281-CCE003291816}"/>
              </a:ext>
            </a:extLst>
          </p:cNvPr>
          <p:cNvSpPr txBox="1"/>
          <p:nvPr/>
        </p:nvSpPr>
        <p:spPr>
          <a:xfrm>
            <a:off x="571500" y="478907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erriweather"/>
              </a:rPr>
              <a:t>INTRODUCTION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16">
            <a:extLst>
              <a:ext uri="{FF2B5EF4-FFF2-40B4-BE49-F238E27FC236}">
                <a16:creationId xmlns:a16="http://schemas.microsoft.com/office/drawing/2014/main" id="{AA0D100C-9052-8169-08CE-59491B8E8B93}"/>
              </a:ext>
            </a:extLst>
          </p:cNvPr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18">
            <a:extLst>
              <a:ext uri="{FF2B5EF4-FFF2-40B4-BE49-F238E27FC236}">
                <a16:creationId xmlns:a16="http://schemas.microsoft.com/office/drawing/2014/main" id="{DA209400-50F3-D99D-D46E-D5D482418FBC}"/>
              </a:ext>
            </a:extLst>
          </p:cNvPr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>
            <a:extLst>
              <a:ext uri="{FF2B5EF4-FFF2-40B4-BE49-F238E27FC236}">
                <a16:creationId xmlns:a16="http://schemas.microsoft.com/office/drawing/2014/main" id="{76C44B36-F983-EC73-09C5-57DFA8A3EFC9}"/>
              </a:ext>
            </a:extLst>
          </p:cNvPr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B59C900A-20E8-D247-5D83-729E37DB2C49}"/>
              </a:ext>
            </a:extLst>
          </p:cNvPr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84197BD-8319-AA38-C430-E23723216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CD2A765-72B4-CBA7-4A6C-010B2CE7A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420539"/>
            <a:ext cx="10784634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Interview Coach is an intelligent platform designed to improve interview preparation.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relevant interview questions based on job roles and difficulty levels.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technical, HR, and behavioral interview practice.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Generative AI to evaluate answers and provide meaningful feedback.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interview performance by identifying strengths and areas for improvement.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candidates build confidence and enhance their readiness for real-world interviews.</a:t>
            </a:r>
          </a:p>
        </p:txBody>
      </p:sp>
    </p:spTree>
    <p:extLst>
      <p:ext uri="{BB962C8B-B14F-4D97-AF65-F5344CB8AC3E}">
        <p14:creationId xmlns:p14="http://schemas.microsoft.com/office/powerpoint/2010/main" val="1281123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332808A8-BAFA-A2DD-A0C7-372142558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>
            <a:extLst>
              <a:ext uri="{FF2B5EF4-FFF2-40B4-BE49-F238E27FC236}">
                <a16:creationId xmlns:a16="http://schemas.microsoft.com/office/drawing/2014/main" id="{1608A911-AA3B-AED1-0EC8-F2A5A00C05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565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>
            <a:extLst>
              <a:ext uri="{FF2B5EF4-FFF2-40B4-BE49-F238E27FC236}">
                <a16:creationId xmlns:a16="http://schemas.microsoft.com/office/drawing/2014/main" id="{A42B53B6-DFF6-968F-C68B-F6F8864A7629}"/>
              </a:ext>
            </a:extLst>
          </p:cNvPr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50" name="Google Shape;150;p16">
            <a:extLst>
              <a:ext uri="{FF2B5EF4-FFF2-40B4-BE49-F238E27FC236}">
                <a16:creationId xmlns:a16="http://schemas.microsoft.com/office/drawing/2014/main" id="{8B93787F-2C9D-C16E-BEDD-8AFD471327F5}"/>
              </a:ext>
            </a:extLst>
          </p:cNvPr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18">
            <a:extLst>
              <a:ext uri="{FF2B5EF4-FFF2-40B4-BE49-F238E27FC236}">
                <a16:creationId xmlns:a16="http://schemas.microsoft.com/office/drawing/2014/main" id="{918A2E3F-2635-C7D0-52E3-8F508FCA5DC9}"/>
              </a:ext>
            </a:extLst>
          </p:cNvPr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>
            <a:extLst>
              <a:ext uri="{FF2B5EF4-FFF2-40B4-BE49-F238E27FC236}">
                <a16:creationId xmlns:a16="http://schemas.microsoft.com/office/drawing/2014/main" id="{8DF53A45-F725-461F-EDC4-A7C17F39E039}"/>
              </a:ext>
            </a:extLst>
          </p:cNvPr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5D44AF59-DF1E-3D10-BC9A-CD968345196E}"/>
              </a:ext>
            </a:extLst>
          </p:cNvPr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3EAFFE7-B4BE-40D1-ACA4-CD843E73D6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C9D634-676E-DE4D-A377-15872D9C7CB1}"/>
              </a:ext>
            </a:extLst>
          </p:cNvPr>
          <p:cNvSpPr txBox="1"/>
          <p:nvPr/>
        </p:nvSpPr>
        <p:spPr>
          <a:xfrm>
            <a:off x="3728117" y="345553"/>
            <a:ext cx="42595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F08300-D759-BB0E-B726-ED93B2A8F2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904786"/>
              </p:ext>
            </p:extLst>
          </p:nvPr>
        </p:nvGraphicFramePr>
        <p:xfrm>
          <a:off x="452487" y="1376374"/>
          <a:ext cx="11331018" cy="5136075"/>
        </p:xfrm>
        <a:graphic>
          <a:graphicData uri="http://schemas.openxmlformats.org/drawingml/2006/table">
            <a:tbl>
              <a:tblPr firstRow="1" bandRow="1">
                <a:tableStyleId>{9252D4F1-00FF-4B38-BC4A-D6A9A0C36176}</a:tableStyleId>
              </a:tblPr>
              <a:tblGrid>
                <a:gridCol w="2834723">
                  <a:extLst>
                    <a:ext uri="{9D8B030D-6E8A-4147-A177-3AD203B41FA5}">
                      <a16:colId xmlns:a16="http://schemas.microsoft.com/office/drawing/2014/main" val="3562300055"/>
                    </a:ext>
                  </a:extLst>
                </a:gridCol>
                <a:gridCol w="2992443">
                  <a:extLst>
                    <a:ext uri="{9D8B030D-6E8A-4147-A177-3AD203B41FA5}">
                      <a16:colId xmlns:a16="http://schemas.microsoft.com/office/drawing/2014/main" val="3437378670"/>
                    </a:ext>
                  </a:extLst>
                </a:gridCol>
                <a:gridCol w="2894786">
                  <a:extLst>
                    <a:ext uri="{9D8B030D-6E8A-4147-A177-3AD203B41FA5}">
                      <a16:colId xmlns:a16="http://schemas.microsoft.com/office/drawing/2014/main" val="3250565483"/>
                    </a:ext>
                  </a:extLst>
                </a:gridCol>
                <a:gridCol w="2609066">
                  <a:extLst>
                    <a:ext uri="{9D8B030D-6E8A-4147-A177-3AD203B41FA5}">
                      <a16:colId xmlns:a16="http://schemas.microsoft.com/office/drawing/2014/main" val="3535754999"/>
                    </a:ext>
                  </a:extLst>
                </a:gridCol>
              </a:tblGrid>
              <a:tr h="446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&amp; Techniques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1339838"/>
                  </a:ext>
                </a:extLst>
              </a:tr>
              <a:tr h="11276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Gorgun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Bulut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NLP, Automatic Question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question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 to measure question quality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3527166"/>
                  </a:ext>
                </a:extLst>
              </a:tr>
              <a:tr h="864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Szandała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ChatGPT, Gemini, AI Assessment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Speeds up candidate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produce inconsistent assessments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2497559"/>
                  </a:ext>
                </a:extLst>
              </a:tr>
              <a:tr h="916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Mock Interview System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NLP, Deep Learning, Speech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automated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multiple technologies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9263442"/>
                  </a:ext>
                </a:extLst>
              </a:tr>
              <a:tr h="916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AI-Enabled Interview Evaluation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NLP, Sentence Transformers, Computer 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Automates answer scoring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implementation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2148397"/>
                  </a:ext>
                </a:extLst>
              </a:tr>
              <a:tr h="864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 Interview Coach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Generative AI, NLP, Sentiment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personalized interview practice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AI model quality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4272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267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B61B21A4-267C-CCBD-C4F4-55C837796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>
            <a:extLst>
              <a:ext uri="{FF2B5EF4-FFF2-40B4-BE49-F238E27FC236}">
                <a16:creationId xmlns:a16="http://schemas.microsoft.com/office/drawing/2014/main" id="{DB21F89A-FC20-D33E-823D-E1DC192B81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565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>
            <a:extLst>
              <a:ext uri="{FF2B5EF4-FFF2-40B4-BE49-F238E27FC236}">
                <a16:creationId xmlns:a16="http://schemas.microsoft.com/office/drawing/2014/main" id="{31569789-E02F-50FE-8051-DFBCAB8EE38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>
            <a:extLst>
              <a:ext uri="{FF2B5EF4-FFF2-40B4-BE49-F238E27FC236}">
                <a16:creationId xmlns:a16="http://schemas.microsoft.com/office/drawing/2014/main" id="{30422EC6-6D9B-62F1-7275-A23A9EB4864D}"/>
              </a:ext>
            </a:extLst>
          </p:cNvPr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D2302B9D-9AA5-D3D9-AC0B-6197359A30B7}"/>
              </a:ext>
            </a:extLst>
          </p:cNvPr>
          <p:cNvSpPr txBox="1"/>
          <p:nvPr/>
        </p:nvSpPr>
        <p:spPr>
          <a:xfrm>
            <a:off x="388928" y="406373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erriweather"/>
              </a:rPr>
              <a:t>PROBLEM STATEMENT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16">
            <a:extLst>
              <a:ext uri="{FF2B5EF4-FFF2-40B4-BE49-F238E27FC236}">
                <a16:creationId xmlns:a16="http://schemas.microsoft.com/office/drawing/2014/main" id="{7823B317-8592-3901-8F34-2872AD14071E}"/>
              </a:ext>
            </a:extLst>
          </p:cNvPr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18">
            <a:extLst>
              <a:ext uri="{FF2B5EF4-FFF2-40B4-BE49-F238E27FC236}">
                <a16:creationId xmlns:a16="http://schemas.microsoft.com/office/drawing/2014/main" id="{2562B492-F151-B6F2-BCBD-9DD2112FB0D5}"/>
              </a:ext>
            </a:extLst>
          </p:cNvPr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>
            <a:extLst>
              <a:ext uri="{FF2B5EF4-FFF2-40B4-BE49-F238E27FC236}">
                <a16:creationId xmlns:a16="http://schemas.microsoft.com/office/drawing/2014/main" id="{1AF426E7-444A-C4EA-932D-D0642E035C39}"/>
              </a:ext>
            </a:extLst>
          </p:cNvPr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AE194B0D-CB94-FF07-5349-2C6A32A8FE55}"/>
              </a:ext>
            </a:extLst>
          </p:cNvPr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4DD238F-67DD-6388-F6EC-BE093AF75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1CCD337-A614-B344-BB06-612D894CF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783" y="1902161"/>
            <a:ext cx="10878684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interview preparation often lacks personalized practice.</a:t>
            </a:r>
          </a:p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Candidates face difficulty generating relevant interview questions.</a:t>
            </a:r>
          </a:p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answer evaluation can be inconsistent and time-consuming.</a:t>
            </a:r>
          </a:p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Candidates may not receive immediate, structured feedback.</a:t>
            </a:r>
          </a:p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strengths and weaknesses is challenging.</a:t>
            </a:r>
          </a:p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AI-based system is needed to evaluate performance and provide improvement suggestions.</a:t>
            </a:r>
          </a:p>
        </p:txBody>
      </p:sp>
    </p:spTree>
    <p:extLst>
      <p:ext uri="{BB962C8B-B14F-4D97-AF65-F5344CB8AC3E}">
        <p14:creationId xmlns:p14="http://schemas.microsoft.com/office/powerpoint/2010/main" val="1231533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BB60AF31-2455-4FD7-7CB7-43A678580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>
            <a:extLst>
              <a:ext uri="{FF2B5EF4-FFF2-40B4-BE49-F238E27FC236}">
                <a16:creationId xmlns:a16="http://schemas.microsoft.com/office/drawing/2014/main" id="{B436B315-4027-85BB-95DB-14C41C5A45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>
            <a:extLst>
              <a:ext uri="{FF2B5EF4-FFF2-40B4-BE49-F238E27FC236}">
                <a16:creationId xmlns:a16="http://schemas.microsoft.com/office/drawing/2014/main" id="{A3C82587-1593-5C1F-721A-874D5DEF741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78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>
            <a:extLst>
              <a:ext uri="{FF2B5EF4-FFF2-40B4-BE49-F238E27FC236}">
                <a16:creationId xmlns:a16="http://schemas.microsoft.com/office/drawing/2014/main" id="{C72B339B-5C9E-8E9F-A1A6-3691EA39DFA2}"/>
              </a:ext>
            </a:extLst>
          </p:cNvPr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3A1B439D-0F04-282F-3DDA-00D796C47148}"/>
              </a:ext>
            </a:extLst>
          </p:cNvPr>
          <p:cNvSpPr txBox="1"/>
          <p:nvPr/>
        </p:nvSpPr>
        <p:spPr>
          <a:xfrm>
            <a:off x="388928" y="406373"/>
            <a:ext cx="116014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erriweather"/>
              </a:rPr>
              <a:t>OBJECTIVES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16">
            <a:extLst>
              <a:ext uri="{FF2B5EF4-FFF2-40B4-BE49-F238E27FC236}">
                <a16:creationId xmlns:a16="http://schemas.microsoft.com/office/drawing/2014/main" id="{AFF221A1-6A69-39D6-940B-49B5676B0337}"/>
              </a:ext>
            </a:extLst>
          </p:cNvPr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18">
            <a:extLst>
              <a:ext uri="{FF2B5EF4-FFF2-40B4-BE49-F238E27FC236}">
                <a16:creationId xmlns:a16="http://schemas.microsoft.com/office/drawing/2014/main" id="{C5C1EDC1-A3E9-D73B-B9F7-E2A540E40C27}"/>
              </a:ext>
            </a:extLst>
          </p:cNvPr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>
            <a:extLst>
              <a:ext uri="{FF2B5EF4-FFF2-40B4-BE49-F238E27FC236}">
                <a16:creationId xmlns:a16="http://schemas.microsoft.com/office/drawing/2014/main" id="{1AC56E97-C184-53A2-20A7-503B32084269}"/>
              </a:ext>
            </a:extLst>
          </p:cNvPr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90475096-9DD4-F707-57A6-DA32ED6413E3}"/>
              </a:ext>
            </a:extLst>
          </p:cNvPr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3A069FD-6717-E8AE-57FD-B748C1CD9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8C74B12-B990-5E10-CAA6-D73FD1365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398" y="2047875"/>
            <a:ext cx="11725843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AI-powered platform for personalized interview preparation.</a:t>
            </a:r>
          </a:p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questions based on job roles, interview types, and difficulty levels.</a:t>
            </a:r>
          </a:p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Generative AI to evaluate answers and provide instant feedback.</a:t>
            </a:r>
          </a:p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adaptive follow-up questions based on previous responses.</a:t>
            </a:r>
          </a:p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performance scores, strengths, and weaknesses.</a:t>
            </a:r>
          </a:p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personalized improvement suggestions and maintain interview history.</a:t>
            </a:r>
          </a:p>
        </p:txBody>
      </p:sp>
    </p:spTree>
    <p:extLst>
      <p:ext uri="{BB962C8B-B14F-4D97-AF65-F5344CB8AC3E}">
        <p14:creationId xmlns:p14="http://schemas.microsoft.com/office/powerpoint/2010/main" val="3321588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3B8ED19B-B1C1-B155-8F7F-06785972F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>
            <a:extLst>
              <a:ext uri="{FF2B5EF4-FFF2-40B4-BE49-F238E27FC236}">
                <a16:creationId xmlns:a16="http://schemas.microsoft.com/office/drawing/2014/main" id="{028E2B6E-2B93-85B7-A63B-43B715B888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565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>
            <a:extLst>
              <a:ext uri="{FF2B5EF4-FFF2-40B4-BE49-F238E27FC236}">
                <a16:creationId xmlns:a16="http://schemas.microsoft.com/office/drawing/2014/main" id="{F580209E-BD17-27BB-991A-8A4782BF74A2}"/>
              </a:ext>
            </a:extLst>
          </p:cNvPr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50" name="Google Shape;150;p16">
            <a:extLst>
              <a:ext uri="{FF2B5EF4-FFF2-40B4-BE49-F238E27FC236}">
                <a16:creationId xmlns:a16="http://schemas.microsoft.com/office/drawing/2014/main" id="{BF553CA9-8580-7544-DE5E-8D1F72231FE5}"/>
              </a:ext>
            </a:extLst>
          </p:cNvPr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18">
            <a:extLst>
              <a:ext uri="{FF2B5EF4-FFF2-40B4-BE49-F238E27FC236}">
                <a16:creationId xmlns:a16="http://schemas.microsoft.com/office/drawing/2014/main" id="{70233A32-3F29-6860-C873-A933F855F02E}"/>
              </a:ext>
            </a:extLst>
          </p:cNvPr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>
            <a:extLst>
              <a:ext uri="{FF2B5EF4-FFF2-40B4-BE49-F238E27FC236}">
                <a16:creationId xmlns:a16="http://schemas.microsoft.com/office/drawing/2014/main" id="{F61B1828-D37C-35B7-6C73-559AF151A01B}"/>
              </a:ext>
            </a:extLst>
          </p:cNvPr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FF49624F-A501-F755-267E-01D72597AB6C}"/>
              </a:ext>
            </a:extLst>
          </p:cNvPr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5DEE348-F7F6-28F8-659B-27ECAC5DA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F55E3A3-A58F-734A-4FFB-85AA3C329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595" y="2197060"/>
            <a:ext cx="9952710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select job role, interview type, and difficulty level.</a:t>
            </a:r>
          </a:p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Generative AI and prompt engineering to generate relevant questions.</a:t>
            </a:r>
          </a:p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technical, HR, and behavioral interviews.</a:t>
            </a:r>
          </a:p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Customizes questions based on role and interview requirements.</a:t>
            </a:r>
          </a:p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questions into interactive interview sessions.</a:t>
            </a:r>
          </a:p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flexible setup for effective interview preparation.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6CDF2A-32DE-2B8D-B342-191EA2D2CAC3}"/>
              </a:ext>
            </a:extLst>
          </p:cNvPr>
          <p:cNvSpPr txBox="1"/>
          <p:nvPr/>
        </p:nvSpPr>
        <p:spPr>
          <a:xfrm>
            <a:off x="1301579" y="376707"/>
            <a:ext cx="100053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Interview Setup and Question Generation</a:t>
            </a:r>
          </a:p>
        </p:txBody>
      </p:sp>
    </p:spTree>
    <p:extLst>
      <p:ext uri="{BB962C8B-B14F-4D97-AF65-F5344CB8AC3E}">
        <p14:creationId xmlns:p14="http://schemas.microsoft.com/office/powerpoint/2010/main" val="3231071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53326FAB-DDB0-0699-9EA3-6C02C962B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>
            <a:extLst>
              <a:ext uri="{FF2B5EF4-FFF2-40B4-BE49-F238E27FC236}">
                <a16:creationId xmlns:a16="http://schemas.microsoft.com/office/drawing/2014/main" id="{4E9DBD34-89D6-EEDB-CF47-0F81D5AACF5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565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>
            <a:extLst>
              <a:ext uri="{FF2B5EF4-FFF2-40B4-BE49-F238E27FC236}">
                <a16:creationId xmlns:a16="http://schemas.microsoft.com/office/drawing/2014/main" id="{1B505E56-023D-C4BE-5E63-BD4AD0D0320F}"/>
              </a:ext>
            </a:extLst>
          </p:cNvPr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50" name="Google Shape;150;p16">
            <a:extLst>
              <a:ext uri="{FF2B5EF4-FFF2-40B4-BE49-F238E27FC236}">
                <a16:creationId xmlns:a16="http://schemas.microsoft.com/office/drawing/2014/main" id="{D4C37EFE-9FE5-CE14-A502-2EB4A9AEE485}"/>
              </a:ext>
            </a:extLst>
          </p:cNvPr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18">
            <a:extLst>
              <a:ext uri="{FF2B5EF4-FFF2-40B4-BE49-F238E27FC236}">
                <a16:creationId xmlns:a16="http://schemas.microsoft.com/office/drawing/2014/main" id="{7A432987-3324-BC8A-3B8C-9E8DFF41B892}"/>
              </a:ext>
            </a:extLst>
          </p:cNvPr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>
            <a:extLst>
              <a:ext uri="{FF2B5EF4-FFF2-40B4-BE49-F238E27FC236}">
                <a16:creationId xmlns:a16="http://schemas.microsoft.com/office/drawing/2014/main" id="{2AF7661A-D139-3D28-FAC0-1457D398DEC9}"/>
              </a:ext>
            </a:extLst>
          </p:cNvPr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E13AB22F-1E13-336A-61D4-DB6285782E9C}"/>
              </a:ext>
            </a:extLst>
          </p:cNvPr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18D7907-C732-42CC-EC11-2FDA71260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B4BDFAC-DC86-0B77-719E-D64B7EEA4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4971" y="2004000"/>
            <a:ext cx="11351698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Presents interview questions through an interactive interface.</a:t>
            </a:r>
          </a:p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submit answers during the interview.</a:t>
            </a:r>
          </a:p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Generative AI and NLP to analyze responses.</a:t>
            </a:r>
          </a:p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answers based on relevance, correctness, clarity, and completeness.</a:t>
            </a:r>
          </a:p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follow-up questions based on previous answers.</a:t>
            </a:r>
          </a:p>
          <a:p>
            <a:pPr marL="342900" lvl="0" indent="-34290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immediate feedback to improve answer quality.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C9ABDB-D935-B6FA-AF64-36B0EAF9B4A3}"/>
              </a:ext>
            </a:extLst>
          </p:cNvPr>
          <p:cNvSpPr txBox="1"/>
          <p:nvPr/>
        </p:nvSpPr>
        <p:spPr>
          <a:xfrm>
            <a:off x="2192869" y="415895"/>
            <a:ext cx="77033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AI Interview and Answer Evaluation</a:t>
            </a:r>
          </a:p>
        </p:txBody>
      </p:sp>
    </p:spTree>
    <p:extLst>
      <p:ext uri="{BB962C8B-B14F-4D97-AF65-F5344CB8AC3E}">
        <p14:creationId xmlns:p14="http://schemas.microsoft.com/office/powerpoint/2010/main" val="2398475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9E5A6B57-0B5F-219D-7C49-98D41126C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6" descr="image.png">
            <a:extLst>
              <a:ext uri="{FF2B5EF4-FFF2-40B4-BE49-F238E27FC236}">
                <a16:creationId xmlns:a16="http://schemas.microsoft.com/office/drawing/2014/main" id="{BCD1ECE0-12C4-8A0B-BE98-3C51BE4DE5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5654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>
            <a:extLst>
              <a:ext uri="{FF2B5EF4-FFF2-40B4-BE49-F238E27FC236}">
                <a16:creationId xmlns:a16="http://schemas.microsoft.com/office/drawing/2014/main" id="{EF86FF1F-4CA0-CBCB-5770-F5326DA4C2AB}"/>
              </a:ext>
            </a:extLst>
          </p:cNvPr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50" name="Google Shape;150;p16">
            <a:extLst>
              <a:ext uri="{FF2B5EF4-FFF2-40B4-BE49-F238E27FC236}">
                <a16:creationId xmlns:a16="http://schemas.microsoft.com/office/drawing/2014/main" id="{EB7918F8-C444-B918-7AB4-48FC23591E43}"/>
              </a:ext>
            </a:extLst>
          </p:cNvPr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18">
            <a:extLst>
              <a:ext uri="{FF2B5EF4-FFF2-40B4-BE49-F238E27FC236}">
                <a16:creationId xmlns:a16="http://schemas.microsoft.com/office/drawing/2014/main" id="{5DF6F69F-12B6-5D87-6898-19CCD42F0DE6}"/>
              </a:ext>
            </a:extLst>
          </p:cNvPr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>
            <a:extLst>
              <a:ext uri="{FF2B5EF4-FFF2-40B4-BE49-F238E27FC236}">
                <a16:creationId xmlns:a16="http://schemas.microsoft.com/office/drawing/2014/main" id="{A9E00534-D778-1B79-3F3B-4369CB10CFFC}"/>
              </a:ext>
            </a:extLst>
          </p:cNvPr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A5EB46B6-13ED-5ADF-4AD1-40425DF6A0BD}"/>
              </a:ext>
            </a:extLst>
          </p:cNvPr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E0FBE3B-0B85-7122-2700-84718665F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3756689-1365-35FD-5398-C4D5FB034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520" y="1945837"/>
            <a:ext cx="10506959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overall interview scores based on the evaluation of submitted answers.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candidate strengths and weaknesses across different interview questions.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detailed performance reports with question-wise scores and feedback.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interview results and evaluation reports in MongoDB for future reference.</a:t>
            </a:r>
          </a:p>
          <a:p>
            <a:pPr marL="342900" lvl="0" indent="-342900" algn="just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interview history to compare previous attempts and monitor performance progress.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1E4E6B-E7E4-E3BD-DB8C-A7F1F7BE3F81}"/>
              </a:ext>
            </a:extLst>
          </p:cNvPr>
          <p:cNvSpPr txBox="1"/>
          <p:nvPr/>
        </p:nvSpPr>
        <p:spPr>
          <a:xfrm>
            <a:off x="1812787" y="361055"/>
            <a:ext cx="77931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accent1"/>
              </a:buClr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Performance Analysis and Reports</a:t>
            </a:r>
          </a:p>
        </p:txBody>
      </p:sp>
    </p:spTree>
    <p:extLst>
      <p:ext uri="{BB962C8B-B14F-4D97-AF65-F5344CB8AC3E}">
        <p14:creationId xmlns:p14="http://schemas.microsoft.com/office/powerpoint/2010/main" val="732205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63AFCB77-E578-7BD2-C7CF-E5A114DBD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>
            <a:extLst>
              <a:ext uri="{FF2B5EF4-FFF2-40B4-BE49-F238E27FC236}">
                <a16:creationId xmlns:a16="http://schemas.microsoft.com/office/drawing/2014/main" id="{F9787770-3798-C699-B4B6-5D5E2F855B01}"/>
              </a:ext>
            </a:extLst>
          </p:cNvPr>
          <p:cNvSpPr txBox="1"/>
          <p:nvPr/>
        </p:nvSpPr>
        <p:spPr>
          <a:xfrm>
            <a:off x="571500" y="2800350"/>
            <a:ext cx="52863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dirty="0"/>
          </a:p>
        </p:txBody>
      </p:sp>
      <p:sp>
        <p:nvSpPr>
          <p:cNvPr id="150" name="Google Shape;150;p16">
            <a:extLst>
              <a:ext uri="{FF2B5EF4-FFF2-40B4-BE49-F238E27FC236}">
                <a16:creationId xmlns:a16="http://schemas.microsoft.com/office/drawing/2014/main" id="{28B05990-062C-3ECB-3675-BA6AB4636478}"/>
              </a:ext>
            </a:extLst>
          </p:cNvPr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 18">
            <a:extLst>
              <a:ext uri="{FF2B5EF4-FFF2-40B4-BE49-F238E27FC236}">
                <a16:creationId xmlns:a16="http://schemas.microsoft.com/office/drawing/2014/main" id="{0BA50CA9-CFC4-522E-BD1F-FF1F9F213EED}"/>
              </a:ext>
            </a:extLst>
          </p:cNvPr>
          <p:cNvSpPr/>
          <p:nvPr/>
        </p:nvSpPr>
        <p:spPr>
          <a:xfrm>
            <a:off x="176857" y="104474"/>
            <a:ext cx="1124722" cy="1048051"/>
          </a:xfrm>
          <a:custGeom>
            <a:avLst/>
            <a:gdLst/>
            <a:ahLst/>
            <a:cxnLst/>
            <a:rect l="l" t="t" r="r" b="b"/>
            <a:pathLst>
              <a:path w="1822327" h="1938456">
                <a:moveTo>
                  <a:pt x="0" y="0"/>
                </a:moveTo>
                <a:lnTo>
                  <a:pt x="1822327" y="0"/>
                </a:lnTo>
                <a:lnTo>
                  <a:pt x="1822327" y="1938455"/>
                </a:lnTo>
                <a:lnTo>
                  <a:pt x="0" y="1938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19">
            <a:extLst>
              <a:ext uri="{FF2B5EF4-FFF2-40B4-BE49-F238E27FC236}">
                <a16:creationId xmlns:a16="http://schemas.microsoft.com/office/drawing/2014/main" id="{EB672891-2FAB-E7B0-A133-8504AD64A12F}"/>
              </a:ext>
            </a:extLst>
          </p:cNvPr>
          <p:cNvSpPr/>
          <p:nvPr/>
        </p:nvSpPr>
        <p:spPr>
          <a:xfrm>
            <a:off x="10787483" y="84910"/>
            <a:ext cx="1327288" cy="1048052"/>
          </a:xfrm>
          <a:custGeom>
            <a:avLst/>
            <a:gdLst/>
            <a:ahLst/>
            <a:cxnLst/>
            <a:rect l="l" t="t" r="r" b="b"/>
            <a:pathLst>
              <a:path w="2569656" h="2343621">
                <a:moveTo>
                  <a:pt x="0" y="0"/>
                </a:moveTo>
                <a:lnTo>
                  <a:pt x="2569656" y="0"/>
                </a:lnTo>
                <a:lnTo>
                  <a:pt x="2569656" y="2343622"/>
                </a:lnTo>
                <a:lnTo>
                  <a:pt x="0" y="234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29">
            <a:extLst>
              <a:ext uri="{FF2B5EF4-FFF2-40B4-BE49-F238E27FC236}">
                <a16:creationId xmlns:a16="http://schemas.microsoft.com/office/drawing/2014/main" id="{16D9D970-0FCC-A0EC-162E-BAE63B3A48BF}"/>
              </a:ext>
            </a:extLst>
          </p:cNvPr>
          <p:cNvSpPr/>
          <p:nvPr/>
        </p:nvSpPr>
        <p:spPr>
          <a:xfrm>
            <a:off x="4101890" y="1902161"/>
            <a:ext cx="4259516" cy="4215728"/>
          </a:xfrm>
          <a:custGeom>
            <a:avLst/>
            <a:gdLst/>
            <a:ahLst/>
            <a:cxnLst/>
            <a:rect l="l" t="t" r="r" b="b"/>
            <a:pathLst>
              <a:path w="4705427" h="5005283">
                <a:moveTo>
                  <a:pt x="0" y="0"/>
                </a:moveTo>
                <a:lnTo>
                  <a:pt x="4705428" y="0"/>
                </a:lnTo>
                <a:lnTo>
                  <a:pt x="4705428" y="5005282"/>
                </a:lnTo>
                <a:lnTo>
                  <a:pt x="0" y="5005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0999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4E12ABD-6A89-CDB8-DBFD-CB15730B1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595" y="3292071"/>
            <a:ext cx="11601450" cy="579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019C9-ABA4-ED43-01F7-EB2EE66F17FF}"/>
              </a:ext>
            </a:extLst>
          </p:cNvPr>
          <p:cNvSpPr txBox="1"/>
          <p:nvPr/>
        </p:nvSpPr>
        <p:spPr>
          <a:xfrm>
            <a:off x="2037760" y="447723"/>
            <a:ext cx="81164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F38E2A-B528-F33D-2A0C-34FB4B078542}"/>
              </a:ext>
            </a:extLst>
          </p:cNvPr>
          <p:cNvSpPr txBox="1"/>
          <p:nvPr/>
        </p:nvSpPr>
        <p:spPr>
          <a:xfrm>
            <a:off x="3355942" y="2563368"/>
            <a:ext cx="4534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E50BD8-8B77-4B81-BD59-C4CC74C63AE2}"/>
              </a:ext>
            </a:extLst>
          </p:cNvPr>
          <p:cNvSpPr/>
          <p:nvPr/>
        </p:nvSpPr>
        <p:spPr>
          <a:xfrm>
            <a:off x="6003634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11" name="Picture 10" descr="Thank you professional Images - Free Download on Magnific (formerly Freepik)">
            <a:extLst>
              <a:ext uri="{FF2B5EF4-FFF2-40B4-BE49-F238E27FC236}">
                <a16:creationId xmlns:a16="http://schemas.microsoft.com/office/drawing/2014/main" id="{7FCF7C5D-32CF-7046-C144-047E81C1FD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3898" y="1520377"/>
            <a:ext cx="6919471" cy="488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1681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1163</TotalTime>
  <Words>531</Words>
  <Application>Microsoft Office PowerPoint</Application>
  <PresentationFormat>Widescreen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Times New Roman</vt:lpstr>
      <vt:lpstr>Calibri</vt:lpstr>
      <vt:lpstr>Wingdings</vt:lpstr>
      <vt:lpstr>Wingdings 3</vt:lpstr>
      <vt:lpstr>Tw Cen MT</vt:lpstr>
      <vt:lpstr>Arial</vt:lpstr>
      <vt:lpstr>Tw Cen MT Condensed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kaveti vamsi siva</dc:creator>
  <cp:lastModifiedBy>kaveti vamsi siva</cp:lastModifiedBy>
  <cp:revision>109</cp:revision>
  <cp:lastPrinted>2026-06-22T05:14:13Z</cp:lastPrinted>
  <dcterms:modified xsi:type="dcterms:W3CDTF">2026-10-26T08:38:09Z</dcterms:modified>
</cp:coreProperties>
</file>